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6B6D4"/>
                </a:solidFill>
              </a:defRPr>
            </a:pPr>
            <a:r>
              <a:t>🚜 ROBOTRAC R&amp;D ENGINEERING SPECIFICATION</a:t>
            </a:r>
          </a:p>
          <a:p>
            <a:pPr>
              <a:spcAft>
                <a:spcPts val="1200"/>
              </a:spcAft>
              <a:defRPr sz="3600" b="1">
                <a:solidFill>
                  <a:srgbClr val="F3F6F8"/>
                </a:solidFill>
              </a:defRPr>
            </a:pPr>
            <a:r>
              <a:t>Autonomous Agricultural Tractor Platform</a:t>
            </a:r>
          </a:p>
          <a:p>
            <a:pPr>
              <a:spcAft>
                <a:spcPts val="3600"/>
              </a:spcAft>
              <a:defRPr sz="1500">
                <a:solidFill>
                  <a:srgbClr val="94A3B8"/>
                </a:solidFill>
              </a:defRPr>
            </a:pPr>
            <a:r>
              <a:t>Technical Architecture, Drive-by-Wire Electro-Hydraulics, Dual-Domain Compute, Non-Linear Motion Control &amp; ISO 18497 / ISO 25119 Compliance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Chief Technology Officer &amp; Principal AI Robotics Engineer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t>SECTION 01 · AGRONOMIC CONTEXT</a:t>
            </a:r>
          </a:p>
          <a:p>
            <a:pPr>
              <a:defRPr sz="2400" b="1">
                <a:solidFill>
                  <a:srgbClr val="F3F6F8"/>
                </a:solidFill>
                <a:latin typeface="Inter"/>
              </a:defRPr>
            </a:pPr>
            <a:r>
              <a:t>The Agricultural Robotics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548640"/>
            <a:ext cx="1645920" cy="411480"/>
          </a:xfrm>
          <a:prstGeom prst="roundRect">
            <a:avLst/>
          </a:prstGeom>
          <a:solidFill>
            <a:srgbClr val="102D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REALITY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⚠️ Why Passenger AV Stacks Fail in Agriculture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Terramechanics &amp; Slip: Loose soil invalidates bicycle kinematics; slip reaches 15%–35%.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Severe Environmental Blinding: Dust clouds and plant chaff coat optical sensors in 20 min.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High-Mast Antenna Roll: Antenna at 2.8m causes up to 29.2 cm lateral error on 6° slopes.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Dynamic Implement Drag: Asymmetric tillage forces (5–40 kN) generate violent yaw perturbations.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🎯 Robotrac Engineering Strategy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Dual-Domain Compute: Hard Real-Time safety MCU for 100 Hz steering, separate from Linux.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NMPC with Soil Slip: Active Pacejka tire-soil friction models compensate for side-slopes.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Multi-Modal Radar Fusion: 77 GHz radar Doppler penetration validates obstacles in dust.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Sub-Scale Electric Mule: Validate RTK and wireless E-stop at low risk before diesel tractors.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t>SECTION 02 · SYSTEM ARCHITECTURE</a:t>
            </a:r>
          </a:p>
          <a:p>
            <a:pPr>
              <a:defRPr sz="2400" b="1">
                <a:solidFill>
                  <a:srgbClr val="F3F6F8"/>
                </a:solidFill>
                <a:latin typeface="Inter"/>
              </a:defRPr>
            </a:pPr>
            <a:r>
              <a:t>Dual-Domain Compute Topology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548640"/>
            <a:ext cx="1645920" cy="411480"/>
          </a:xfrm>
          <a:prstGeom prst="roundRect">
            <a:avLst/>
          </a:prstGeom>
          <a:solidFill>
            <a:srgbClr val="102D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ADR-002 APPROVED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🖥️ Domain 1: Soft Real-Time (NVIDIA Jetson)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Hardware: NVIDIA Jetson AGX Orin Industrial (275 TOPS, -40°C to +85°C).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OS &amp; Middleware: Ubuntu Linux (PREEMPT_RT) + ROS 2 (CycloneDDS / Iceoryx).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Perception: Optical NIR row segmentation (BiSeNet-V2 @ 30 FPS) + radar clutter filter.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State Estimation: 15-state ES-EKF fusing dual RTK + tactical IMU @ 20 Hz.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Planning: Fields2Cover coverage swaths, Ω-turns &amp; acados NMPC solver (20 Hz).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🛡️ Domain 2: Hard Real-Time (Safety Controller)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Hardware: TTControl TTC 580 / IFM CR711S (Dual-core lockstep MCU).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Deterministic Loop: 100 Hz cycle (10.0 ms ± 0.1 ms jitter) running certified C/RTOS.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Steering Actuation: Dual Hall WAS reading + Danfoss OSPE electro-hydraulic valve PWM.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Fail-Safe Stopping: Spring-Applied Pressure-Released (SAPR) brake dump (&lt; 150 ms).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ISO 18497 E-Stop: Wireless RF remote heartbeat monitoring (&lt; 500 ms automatic trip).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t>SECTION 03 · VEHICLE CONTROL &amp; DBW</a:t>
            </a:r>
          </a:p>
          <a:p>
            <a:pPr>
              <a:defRPr sz="2400" b="1">
                <a:solidFill>
                  <a:srgbClr val="F3F6F8"/>
                </a:solidFill>
                <a:latin typeface="Inter"/>
              </a:defRPr>
            </a:pPr>
            <a:r>
              <a:t>Electro-Hydraulic Drive-by-Wire Subsystems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548640"/>
            <a:ext cx="1645920" cy="411480"/>
          </a:xfrm>
          <a:prstGeom prst="roundRect">
            <a:avLst/>
          </a:prstGeom>
          <a:solidFill>
            <a:srgbClr val="102D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ISO 25119 AgPL 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Steering Actuation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Danfoss OSPE / Eaton PVG 32 proportional valve with load-sensing priority.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Zero mechanical backlash; direct cylinder hydraulic connection.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Curtiss-Wright R300 dual Hall-effect WAS (IP69K sealed).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Inverted analog plausibility check: V1 + V2 = 5.0V ± 0.1V.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Fail-Safe Braking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Service Brake: Proportional pressure valve (0–120 bar) for smooth stops.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Emergency Brake: Spring-Applied Pressure-Released (SAPR) cylinder.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Fast Dump Valve: Vents hydraulic pressure to tank in &lt; 150 ms on trip.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Mechanical spring locks wheels independently of electrical bus.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Powertrain &amp; Implement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SAE J1939 Engine Control: Commands speed/torque limits via TSC1 message.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ISOBUS Class 3 (ISO 11783): Automates 3-point hitch lift/lower at headlands.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PTO Interlock: Disengages PTO automatically before tight Ω-turns.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Electronic governor prevents engine stall under peak implement drag.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t>SECTION 04 · STATE ESTIMATION</a:t>
            </a:r>
          </a:p>
          <a:p>
            <a:pPr>
              <a:defRPr sz="2400" b="1">
                <a:solidFill>
                  <a:srgbClr val="F3F6F8"/>
                </a:solidFill>
                <a:latin typeface="Inter"/>
              </a:defRPr>
            </a:pPr>
            <a:r>
              <a:t>Dual-Antenna RTK &amp; 3D Tilt Compensation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548640"/>
            <a:ext cx="1645920" cy="411480"/>
          </a:xfrm>
          <a:prstGeom prst="roundRect">
            <a:avLst/>
          </a:prstGeom>
          <a:solidFill>
            <a:srgbClr val="102D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SUB-2.5 CM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📡 Moving-Baseline Dual-Antenna RTK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Hardware: Septentrio AsteRx-m3 Pro or Dual u-blox ZED-F9P on a 1.2m baseline.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Static Yaw: Measures carrier-phase double-differences, guaranteeing sub-0.09° heading.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Zero-Speed Reliability: True heading at 0 m/s; unaffected by wheel spin in mud.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Magnetic Immunity: 100% immune to heavy tractor steel chassis distortion.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📐 Dynamic Terrain Roll / Pitch Compensation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Tactical MEMS IMU: Xsens MTi-680G (&lt; 2°/hr gyro bias stability) @ 200 Hz.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Coordinate Transformation: Dynamic lever-arm tilt correction down to ground contact.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Formula: Δx = h * sin(θ_roll) + l * cos(θ_pitch) eliminates mast sway.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Ground Accuracy: Restricts lateral tilt error to ≤ 2.0 cm on uneven furrows.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t>SECTION 05 · PERCEPTION ENGINEERING</a:t>
            </a:r>
          </a:p>
          <a:p>
            <a:pPr>
              <a:defRPr sz="2400" b="1">
                <a:solidFill>
                  <a:srgbClr val="F3F6F8"/>
                </a:solidFill>
                <a:latin typeface="Inter"/>
              </a:defRPr>
            </a:pPr>
            <a:r>
              <a:t>Multi-Modal Sensor Fusion in Hostile Dust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548640"/>
            <a:ext cx="1645920" cy="411480"/>
          </a:xfrm>
          <a:prstGeom prst="roundRect">
            <a:avLst/>
          </a:prstGeom>
          <a:solidFill>
            <a:srgbClr val="102D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ZERO FALSE STOPS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NIR HDR Cameras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Leopard Imaging AR0820 GMSL2 (&gt; 120 dB HDR, Global Shutter).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NIR 850 nm Filter: Enhances crop chlorophyll reflectance vs dry soil.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Pneumatic Air-Blast: 6-bar compressed air purge cleans lens dust every 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77 GHz mmWave Radar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Continental ARS 408-21 automotive radar.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Dust Penetration: Millimeter waves (3.9 mm) pierce dense tilling dust plumes.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Direct Doppler: Instantly measures radial velocity of approaching humans.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31E29"/>
          </a:solidFill>
          <a:ln>
            <a:solidFill>
              <a:srgbClr val="1F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3D Solid-State LiDAR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Livox Mid-360 (360° x 59° FOV, 905 nm).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Canopy Profiling: 3D field boundary, ditch, and canopy density extraction.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Clutter Removal: Ground plane segmentation filters out harmless tall grass.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